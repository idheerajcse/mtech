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7" r:id="rId4"/>
    <p:sldMasterId id="2147484036" r:id="rId5"/>
    <p:sldMasterId id="2147484038" r:id="rId6"/>
  </p:sldMasterIdLst>
  <p:notesMasterIdLst>
    <p:notesMasterId r:id="rId18"/>
  </p:notesMasterIdLst>
  <p:handoutMasterIdLst>
    <p:handoutMasterId r:id="rId19"/>
  </p:handoutMasterIdLst>
  <p:sldIdLst>
    <p:sldId id="256" r:id="rId7"/>
    <p:sldId id="326" r:id="rId8"/>
    <p:sldId id="348" r:id="rId9"/>
    <p:sldId id="349" r:id="rId10"/>
    <p:sldId id="359" r:id="rId11"/>
    <p:sldId id="360" r:id="rId12"/>
    <p:sldId id="350" r:id="rId13"/>
    <p:sldId id="361" r:id="rId14"/>
    <p:sldId id="362" r:id="rId15"/>
    <p:sldId id="363" r:id="rId16"/>
    <p:sldId id="258" r:id="rId1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va  Pardesi" initials="AP" lastIdx="11" clrIdx="0">
    <p:extLst>
      <p:ext uri="{19B8F6BF-5375-455C-9EA6-DF929625EA0E}">
        <p15:presenceInfo xmlns:p15="http://schemas.microsoft.com/office/powerpoint/2012/main" userId="S-1-5-21-1801674531-1177238915-682003330-2129570" providerId="AD"/>
      </p:ext>
    </p:extLst>
  </p:cmAuthor>
  <p:cmAuthor id="2" name="Peshaan Khajotia" initials="PK" lastIdx="53" clrIdx="1">
    <p:extLst>
      <p:ext uri="{19B8F6BF-5375-455C-9EA6-DF929625EA0E}">
        <p15:presenceInfo xmlns:p15="http://schemas.microsoft.com/office/powerpoint/2012/main" userId="S-1-5-21-1801674531-1177238915-682003330-22218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037CA7"/>
    <a:srgbClr val="93478C"/>
    <a:srgbClr val="D53E85"/>
    <a:srgbClr val="612C91"/>
    <a:srgbClr val="007DC5"/>
    <a:srgbClr val="F15A2D"/>
    <a:srgbClr val="724698"/>
    <a:srgbClr val="262626"/>
    <a:srgbClr val="07B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81" autoAdjust="0"/>
    <p:restoredTop sz="93741" autoAdjust="0"/>
  </p:normalViewPr>
  <p:slideViewPr>
    <p:cSldViewPr snapToObjects="1">
      <p:cViewPr varScale="1">
        <p:scale>
          <a:sx n="84" d="100"/>
          <a:sy n="84" d="100"/>
        </p:scale>
        <p:origin x="1172" y="56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chand Amgoth" userId="ea017c71-c3c5-459d-b04b-915c0e816ad1" providerId="ADAL" clId="{2B7CE28D-1799-4BAC-9603-5D60081518C3}"/>
    <pc:docChg chg="custSel addSld modSld">
      <pc:chgData name="Tarachand Amgoth" userId="ea017c71-c3c5-459d-b04b-915c0e816ad1" providerId="ADAL" clId="{2B7CE28D-1799-4BAC-9603-5D60081518C3}" dt="2024-11-09T01:58:58.257" v="143" actId="2890"/>
      <pc:docMkLst>
        <pc:docMk/>
      </pc:docMkLst>
      <pc:sldChg chg="modSp mod">
        <pc:chgData name="Tarachand Amgoth" userId="ea017c71-c3c5-459d-b04b-915c0e816ad1" providerId="ADAL" clId="{2B7CE28D-1799-4BAC-9603-5D60081518C3}" dt="2024-11-01T02:56:48.013" v="142" actId="20577"/>
        <pc:sldMkLst>
          <pc:docMk/>
          <pc:sldMk cId="2611437373" sldId="256"/>
        </pc:sldMkLst>
        <pc:spChg chg="mod">
          <ac:chgData name="Tarachand Amgoth" userId="ea017c71-c3c5-459d-b04b-915c0e816ad1" providerId="ADAL" clId="{2B7CE28D-1799-4BAC-9603-5D60081518C3}" dt="2024-11-01T02:56:48.013" v="142" actId="20577"/>
          <ac:spMkLst>
            <pc:docMk/>
            <pc:sldMk cId="2611437373" sldId="256"/>
            <ac:spMk id="3" creationId="{00000000-0000-0000-0000-000000000000}"/>
          </ac:spMkLst>
        </pc:spChg>
        <pc:spChg chg="mod">
          <ac:chgData name="Tarachand Amgoth" userId="ea017c71-c3c5-459d-b04b-915c0e816ad1" providerId="ADAL" clId="{2B7CE28D-1799-4BAC-9603-5D60081518C3}" dt="2024-11-01T02:55:42.962" v="13" actId="20577"/>
          <ac:spMkLst>
            <pc:docMk/>
            <pc:sldMk cId="2611437373" sldId="256"/>
            <ac:spMk id="4" creationId="{8858B8A9-05BB-EF9F-4232-62A7D5D5DCBD}"/>
          </ac:spMkLst>
        </pc:spChg>
      </pc:sldChg>
      <pc:sldChg chg="add">
        <pc:chgData name="Tarachand Amgoth" userId="ea017c71-c3c5-459d-b04b-915c0e816ad1" providerId="ADAL" clId="{2B7CE28D-1799-4BAC-9603-5D60081518C3}" dt="2024-11-09T01:58:58.257" v="143" actId="2890"/>
        <pc:sldMkLst>
          <pc:docMk/>
          <pc:sldMk cId="2803595653" sldId="3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6E581-5FB9-423A-846D-A955E43F1AA1}" type="datetimeFigureOut">
              <a:rPr lang="en-US" smtClean="0"/>
              <a:pPr/>
              <a:t>11/9/2024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B16E-D317-4731-B361-9197425E46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106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pPr/>
              <a:t>11/9/2024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8234"/>
            <a:ext cx="5123095" cy="506724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spcBef>
                <a:spcPts val="100"/>
              </a:spcBef>
              <a:defRPr sz="2400">
                <a:solidFill>
                  <a:srgbClr val="724698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24762"/>
            <a:ext cx="5123095" cy="34290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  <a:p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40459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79" name="Rectangle 178"/>
          <p:cNvSpPr/>
          <p:nvPr userDrawn="1"/>
        </p:nvSpPr>
        <p:spPr>
          <a:xfrm rot="5400000">
            <a:off x="-112141" y="2519805"/>
            <a:ext cx="869427" cy="54864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71" name="Picture 17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03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234" y="882040"/>
            <a:ext cx="5564766" cy="3697873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55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181" name="TextBox 18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27" name="Rectangle 26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615E9B08-E83C-4AE8-AAEF-9FE4F4C2C5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54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8"/>
          <a:stretch/>
        </p:blipFill>
        <p:spPr>
          <a:xfrm>
            <a:off x="3577569" y="882041"/>
            <a:ext cx="5571891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7A3964C5-58DA-4136-AC3E-94E5C0CBE8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569" y="882041"/>
            <a:ext cx="5558210" cy="369787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F27A1AE8-A56F-45BA-8BE3-A71E4802211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23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523" y="889736"/>
            <a:ext cx="5529256" cy="3690177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372531AF-C7C4-47A6-9634-DFEDDA9FC2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60" y="889736"/>
            <a:ext cx="5531919" cy="3690178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C76AAF61-AED4-4E30-953A-C1727674A1C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57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472" y="891563"/>
            <a:ext cx="5532528" cy="368835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8220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46C3F199-1A0A-4B12-AE2E-B375F813F4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45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7" t="23400" b="15213"/>
          <a:stretch/>
        </p:blipFill>
        <p:spPr>
          <a:xfrm flipH="1">
            <a:off x="763694" y="891563"/>
            <a:ext cx="8382259" cy="3696412"/>
          </a:xfrm>
          <a:prstGeom prst="rect">
            <a:avLst/>
          </a:prstGeom>
        </p:spPr>
      </p:pic>
      <p:sp>
        <p:nvSpPr>
          <p:cNvPr id="172" name="Rectangle 171"/>
          <p:cNvSpPr/>
          <p:nvPr userDrawn="1"/>
        </p:nvSpPr>
        <p:spPr>
          <a:xfrm>
            <a:off x="-1953" y="882041"/>
            <a:ext cx="9143999" cy="3697873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60000">
                <a:srgbClr val="D43A5F">
                  <a:alpha val="62000"/>
                </a:srgbClr>
              </a:gs>
              <a:gs pos="39000">
                <a:srgbClr val="BA2983"/>
              </a:gs>
              <a:gs pos="100000">
                <a:srgbClr val="F04D38">
                  <a:alpha val="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91673"/>
            <a:ext cx="5123095" cy="506724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618201"/>
            <a:ext cx="5123095" cy="34290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257175" marR="0" lvl="0" indent="-257175" fontAlgn="auto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3733898"/>
            <a:ext cx="1856666" cy="301760"/>
          </a:xfrm>
        </p:spPr>
        <p:txBody>
          <a:bodyPr vert="horz" lIns="68580" tIns="34290" rIns="68580" bIns="34290" rtlCol="0">
            <a:noAutofit/>
          </a:bodyPr>
          <a:lstStyle>
            <a:lvl1pPr marL="0" indent="0">
              <a:buNone/>
              <a:defRPr lang="en-US" sz="1400" dirty="0" smtClean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257175" lvl="0" indent="-257175"/>
            <a:r>
              <a:rPr lang="en-US" dirty="0"/>
              <a:t>Insert Date</a:t>
            </a:r>
          </a:p>
        </p:txBody>
      </p:sp>
      <p:sp>
        <p:nvSpPr>
          <p:cNvPr id="171" name="Rectangle 170"/>
          <p:cNvSpPr/>
          <p:nvPr userDrawn="1"/>
        </p:nvSpPr>
        <p:spPr>
          <a:xfrm rot="5400000">
            <a:off x="-112141" y="2518005"/>
            <a:ext cx="869427" cy="45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lvl="0" algn="ctr" defTabSz="685766"/>
            <a:endParaRPr lang="en-IN" dirty="0">
              <a:solidFill>
                <a:prstClr val="white"/>
              </a:solidFill>
            </a:endParaRPr>
          </a:p>
        </p:txBody>
      </p:sp>
      <p:grpSp>
        <p:nvGrpSpPr>
          <p:cNvPr id="173" name="Group 172"/>
          <p:cNvGrpSpPr/>
          <p:nvPr userDrawn="1"/>
        </p:nvGrpSpPr>
        <p:grpSpPr>
          <a:xfrm>
            <a:off x="283755" y="163261"/>
            <a:ext cx="2129833" cy="471311"/>
            <a:chOff x="283755" y="165687"/>
            <a:chExt cx="1564837" cy="346283"/>
          </a:xfrm>
        </p:grpSpPr>
        <p:grpSp>
          <p:nvGrpSpPr>
            <p:cNvPr id="174" name="Group 173"/>
            <p:cNvGrpSpPr/>
            <p:nvPr userDrawn="1"/>
          </p:nvGrpSpPr>
          <p:grpSpPr>
            <a:xfrm>
              <a:off x="1029100" y="165687"/>
              <a:ext cx="819492" cy="346282"/>
              <a:chOff x="1323430" y="208452"/>
              <a:chExt cx="838843" cy="354460"/>
            </a:xfrm>
            <a:solidFill>
              <a:srgbClr val="007DC5"/>
            </a:solidFill>
          </p:grpSpPr>
          <p:sp>
            <p:nvSpPr>
              <p:cNvPr id="177" name="Freeform 176"/>
              <p:cNvSpPr>
                <a:spLocks noEditPoints="1"/>
              </p:cNvSpPr>
              <p:nvPr userDrawn="1"/>
            </p:nvSpPr>
            <p:spPr bwMode="auto">
              <a:xfrm>
                <a:off x="1478162" y="472445"/>
                <a:ext cx="525842" cy="90467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8" name="Freeform 177"/>
              <p:cNvSpPr>
                <a:spLocks noEditPoints="1"/>
              </p:cNvSpPr>
              <p:nvPr userDrawn="1"/>
            </p:nvSpPr>
            <p:spPr bwMode="auto">
              <a:xfrm>
                <a:off x="1323430" y="339059"/>
                <a:ext cx="838843" cy="90467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179" name="Freeform 178"/>
              <p:cNvSpPr>
                <a:spLocks noEditPoints="1"/>
              </p:cNvSpPr>
              <p:nvPr userDrawn="1"/>
            </p:nvSpPr>
            <p:spPr bwMode="auto">
              <a:xfrm>
                <a:off x="1562183" y="208452"/>
                <a:ext cx="363379" cy="90524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cxnSp>
          <p:nvCxnSpPr>
            <p:cNvPr id="175" name="Straight Connector 174"/>
            <p:cNvCxnSpPr/>
            <p:nvPr/>
          </p:nvCxnSpPr>
          <p:spPr>
            <a:xfrm>
              <a:off x="922267" y="166149"/>
              <a:ext cx="0" cy="342581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rgbClr val="007D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6" name="Picture 17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755" y="174956"/>
              <a:ext cx="531679" cy="337014"/>
            </a:xfrm>
            <a:prstGeom prst="rect">
              <a:avLst/>
            </a:prstGeom>
          </p:spPr>
        </p:pic>
      </p:grpSp>
      <p:pic>
        <p:nvPicPr>
          <p:cNvPr id="180" name="Picture 17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66308" y="4669962"/>
            <a:ext cx="211788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Copyright © 2021 </a:t>
            </a:r>
            <a:r>
              <a:rPr lang="en-US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Tata Consultancy Services Limited</a:t>
            </a:r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BA93BE3B-31F8-458A-9A8C-59855610FF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25" y="123438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4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16">
          <p15:clr>
            <a:srgbClr val="FBAE40"/>
          </p15:clr>
        </p15:guide>
        <p15:guide id="3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 vert="horz" wrap="square" lIns="68580" tIns="34290" rIns="68580" bIns="3429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742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</p:spPr>
        <p:txBody>
          <a:bodyPr vert="horz" wrap="square" lIns="68580" tIns="34290" rIns="68580" bIns="34290" rtlCol="0" anchor="ctr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02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18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 rot="5400000">
            <a:off x="-154141" y="283773"/>
            <a:ext cx="625061" cy="57515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71" name="Text Placeholder 4"/>
          <p:cNvSpPr txBox="1">
            <a:spLocks/>
          </p:cNvSpPr>
          <p:nvPr userDrawn="1"/>
        </p:nvSpPr>
        <p:spPr>
          <a:xfrm>
            <a:off x="4662608" y="4891759"/>
            <a:ext cx="1210588" cy="21544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External</a:t>
            </a:r>
          </a:p>
        </p:txBody>
      </p:sp>
      <p:sp>
        <p:nvSpPr>
          <p:cNvPr id="63" name="Rectangle 71"/>
          <p:cNvSpPr txBox="1">
            <a:spLocks noChangeArrowheads="1"/>
          </p:cNvSpPr>
          <p:nvPr userDrawn="1"/>
        </p:nvSpPr>
        <p:spPr bwMode="auto">
          <a:xfrm>
            <a:off x="4421706" y="4864345"/>
            <a:ext cx="30058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 dirty="0"/>
              <a:t> </a:t>
            </a:r>
          </a:p>
        </p:txBody>
      </p:sp>
      <p:cxnSp>
        <p:nvCxnSpPr>
          <p:cNvPr id="64" name="Straight Connector 63"/>
          <p:cNvCxnSpPr/>
          <p:nvPr userDrawn="1"/>
        </p:nvCxnSpPr>
        <p:spPr>
          <a:xfrm>
            <a:off x="4687360" y="4945062"/>
            <a:ext cx="0" cy="12717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Picture 169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DEFFE69-D5FF-4A87-B6F2-FB54E497FFA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365" y="4641142"/>
            <a:ext cx="855192" cy="34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3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4052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3751" r:id="rId9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rgbClr val="724698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Wingdings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Myriad Pro" pitchFamily="34" charset="0"/>
        <a:buChar char="–"/>
        <a:defRPr sz="15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Courier New" pitchFamily="49" charset="0"/>
        <a:buChar char="o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chemeClr val="tx1">
            <a:lumMod val="65000"/>
            <a:lumOff val="35000"/>
          </a:schemeClr>
        </a:buClr>
        <a:buFont typeface="Arial" pitchFamily="34" charset="0"/>
        <a:buChar char="•"/>
        <a:defRPr sz="12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620" userDrawn="1">
          <p15:clr>
            <a:srgbClr val="F26B43"/>
          </p15:clr>
        </p15:guide>
        <p15:guide id="3" pos="5642" userDrawn="1">
          <p15:clr>
            <a:srgbClr val="F26B43"/>
          </p15:clr>
        </p15:guide>
        <p15:guide id="4" pos="11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2939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1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6970" y="1987302"/>
            <a:ext cx="492427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/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356970" y="2549813"/>
            <a:ext cx="492427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2D2DF18-524F-4CE9-B4ED-9E4A0879DD9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9249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9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lang="en-US" sz="2400" kern="1200" dirty="0">
          <a:solidFill>
            <a:srgbClr val="724698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56970" y="1987302"/>
            <a:ext cx="3961966" cy="553998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Autofit/>
          </a:bodyPr>
          <a:lstStyle>
            <a:lvl1pPr>
              <a:lnSpc>
                <a:spcPct val="90000"/>
              </a:lnSpc>
              <a:spcBef>
                <a:spcPts val="100"/>
              </a:spcBef>
              <a:buNone/>
              <a:defRPr sz="2400">
                <a:solidFill>
                  <a:srgbClr val="724698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64" name="Rectangle 163"/>
          <p:cNvSpPr/>
          <p:nvPr userDrawn="1"/>
        </p:nvSpPr>
        <p:spPr>
          <a:xfrm>
            <a:off x="356970" y="2549813"/>
            <a:ext cx="4100296" cy="44607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IN" dirty="0">
              <a:solidFill>
                <a:prstClr val="white"/>
              </a:solidFill>
            </a:endParaRPr>
          </a:p>
        </p:txBody>
      </p:sp>
      <p:pic>
        <p:nvPicPr>
          <p:cNvPr id="167" name="Picture 1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6180"/>
            <a:ext cx="4891635" cy="317319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109F89-EB5A-40FF-A12F-613D202AB8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5010"/>
            <a:ext cx="1260839" cy="5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8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3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3000" kern="1200" dirty="0" smtClean="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627" y="2372866"/>
            <a:ext cx="7727773" cy="342900"/>
          </a:xfrm>
        </p:spPr>
        <p:txBody>
          <a:bodyPr/>
          <a:lstStyle/>
          <a:p>
            <a:r>
              <a:rPr lang="en-US" sz="24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Definite and Horne Clauses, Forward and Backward checking</a:t>
            </a:r>
            <a:endParaRPr lang="en-US" sz="2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8BDAB70-7A34-1F09-FB02-A4999B9278C1}"/>
              </a:ext>
            </a:extLst>
          </p:cNvPr>
          <p:cNvSpPr txBox="1">
            <a:spLocks/>
          </p:cNvSpPr>
          <p:nvPr/>
        </p:nvSpPr>
        <p:spPr>
          <a:xfrm>
            <a:off x="4605670" y="3998182"/>
            <a:ext cx="3854762" cy="3017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034EA2"/>
                </a:solidFill>
              </a:rPr>
              <a:t>Prof. Tarachand Amgoth</a:t>
            </a:r>
          </a:p>
          <a:p>
            <a:pPr algn="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76C32B9-10B6-E691-28C9-BDD858B991AD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58B8A9-05BB-EF9F-4232-62A7D5D5DCBD}"/>
              </a:ext>
            </a:extLst>
          </p:cNvPr>
          <p:cNvSpPr txBox="1">
            <a:spLocks/>
          </p:cNvSpPr>
          <p:nvPr/>
        </p:nvSpPr>
        <p:spPr>
          <a:xfrm>
            <a:off x="236987" y="123478"/>
            <a:ext cx="6999309" cy="3429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Wingdings" pitchFamily="2" charset="2"/>
              <a:buNone/>
              <a:tabLst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3429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6858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028700" indent="0" algn="ctr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None/>
              <a:defRPr sz="1200" kern="1200" baseline="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3716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Myriad Pro" pitchFamily="34" charset="0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Agents</a:t>
            </a:r>
            <a:endParaRPr lang="en-US" sz="22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37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Definite Clause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871F16-5843-9C5F-3ACA-85F58CCF4AFF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CB1F3-F67A-5D99-DADA-42E4FEF0DD5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675096-24D4-3C60-68C5-0E6F381AD437}"/>
              </a:ext>
            </a:extLst>
          </p:cNvPr>
          <p:cNvSpPr txBox="1"/>
          <p:nvPr/>
        </p:nvSpPr>
        <p:spPr>
          <a:xfrm>
            <a:off x="429604" y="977238"/>
            <a:ext cx="81028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definite clause is a type of disjunction (logical OR) in propositional logic where exactly one of the literals (propositional variables or their negations) is positive (i.e., not negated).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general form of a definite clause is:</a:t>
            </a:r>
          </a:p>
          <a:p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					𝑝 ∨¬𝑞1 ∨¬𝑞2 ∨…∨ ¬𝑞𝑛</a:t>
            </a:r>
          </a:p>
          <a:p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can also be represented in an implicational form as:</a:t>
            </a:r>
          </a:p>
          <a:p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					𝑞1 ∧ 𝑞2 ∧…∧ 𝑞𝑛  ⟹  𝑝</a:t>
            </a:r>
          </a:p>
          <a:p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Here, p is the head of the clause (the single positive literal), and the 𝑞𝑖​ 's represent the body of the clause (negated literals forming a conjunction)</a:t>
            </a:r>
            <a:endParaRPr lang="en-IN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92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D478-BF66-3303-0F81-CF8D680D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CA0B-41F7-C904-517D-36072E90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Horne Clause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59242A8-FA55-DEA7-1E71-32CBE6366C42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EC2E3-0199-4122-5AF3-9A9A541CFABC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10C89-6A57-3F30-83DF-922A373E0E1B}"/>
              </a:ext>
            </a:extLst>
          </p:cNvPr>
          <p:cNvSpPr txBox="1"/>
          <p:nvPr/>
        </p:nvSpPr>
        <p:spPr>
          <a:xfrm>
            <a:off x="316181" y="699542"/>
            <a:ext cx="82162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Horn Clause: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Horn clause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 broader concept that includes </a:t>
            </a: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definite clauses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as well as other types of clauses with specific restrictions.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Horn clause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is a clause (a disjunction of literals) that contains at most </a:t>
            </a: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one positive literal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There are three main types of Horn clauses: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Definite Clause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As described above, it has exactly one positive literal.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Example: p ∨ ¬q (equivalent to q  ⟹  p).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Fact (or Unit Clause)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This is a Horn clause with only a single positive literal and no negative literals.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Example: 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Goal Clause (or Empty Head)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This type contains only negative literals (no positive literals), typically used in queries.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Example: ¬q1 ∨ ¬q2​.</a:t>
            </a:r>
          </a:p>
        </p:txBody>
      </p:sp>
    </p:spTree>
    <p:extLst>
      <p:ext uri="{BB962C8B-B14F-4D97-AF65-F5344CB8AC3E}">
        <p14:creationId xmlns:p14="http://schemas.microsoft.com/office/powerpoint/2010/main" val="383988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3404-A4E5-EDE2-2506-8C9F9C59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474E-453C-0B84-728D-46CA5A83D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Forward Checking (Forward Reasoning)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74B90B7-728C-5C52-744F-6D90080CD1AB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EDE8B-B298-9E22-DB45-573017BC133F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10F8CB-5BE0-FA3A-B48E-05C6DE2B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915566"/>
            <a:ext cx="75675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Forward checking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starts with known facts and uses inference rules to derive new facts until a desired conclusion (or goal) is reached or no more inferences can be made.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terms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Horn clauses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forward checking means applying definite clauses in a forward direction: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you have a clause like q1 ∧ q2 ∧…∧ qn  ⟹  p</a:t>
            </a:r>
            <a:r>
              <a:rPr lang="en-US" alt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all the qi​'s are known to be true, you can deduce that p is true.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approach is often referred to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data-driven reasoning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since it starts from available data (facts) and moves towards potential conclusions by applying rules.</a:t>
            </a:r>
          </a:p>
        </p:txBody>
      </p:sp>
    </p:spTree>
    <p:extLst>
      <p:ext uri="{BB962C8B-B14F-4D97-AF65-F5344CB8AC3E}">
        <p14:creationId xmlns:p14="http://schemas.microsoft.com/office/powerpoint/2010/main" val="519196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CCF9C-9B90-75F6-5483-C077BB901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4B10-1C7C-6539-5DCB-57AF15BA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Forward Checking (Forward Reasoning)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BAF45E9-AEE7-6787-5787-5080E401885D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645B9B-773C-BB1C-E0E9-293DB59B5D32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A5F00B-6477-24D7-0009-C94991D08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81" y="1131590"/>
            <a:ext cx="83140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Consider the clauses: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q1 ∧ q2  ⟹  p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q1​ and q2​ are true.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By forward checking, you deduce p as true because all conditions (q1​ and q2​) in the premise of the clause are satisfied.</a:t>
            </a:r>
          </a:p>
        </p:txBody>
      </p:sp>
    </p:spTree>
    <p:extLst>
      <p:ext uri="{BB962C8B-B14F-4D97-AF65-F5344CB8AC3E}">
        <p14:creationId xmlns:p14="http://schemas.microsoft.com/office/powerpoint/2010/main" val="55564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3860-DA8B-D4C9-3DA0-3419D7DF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9E9E-088B-50F8-4056-D6C550E6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Forward Checking (Forward Reasoning): Example 2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02C0F34-7CE9-EAA5-8B99-D48165D00216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2B2D5-4292-83BD-305E-1E95A13CA1E5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9B2FF-5D93-6A66-CADA-6EBA0123B67A}"/>
              </a:ext>
            </a:extLst>
          </p:cNvPr>
          <p:cNvSpPr txBox="1"/>
          <p:nvPr/>
        </p:nvSpPr>
        <p:spPr>
          <a:xfrm>
            <a:off x="333290" y="685460"/>
            <a:ext cx="81271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Rules (Horn Clauses):</a:t>
            </a:r>
            <a:endParaRPr lang="en-US" sz="1800" dirty="0">
              <a:solidFill>
                <a:srgbClr val="C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034EA2"/>
                </a:solidFill>
              </a:rPr>
              <a:t>A∧B  ⟹  CA 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034EA2"/>
                </a:solidFill>
              </a:rPr>
              <a:t>C  ⟹  D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034EA2"/>
                </a:solidFill>
              </a:rPr>
              <a:t>B∧E  ⟹  F</a:t>
            </a:r>
          </a:p>
          <a:p>
            <a:r>
              <a:rPr lang="en-US" sz="1800" b="1" dirty="0">
                <a:solidFill>
                  <a:srgbClr val="034EA2"/>
                </a:solidFill>
              </a:rPr>
              <a:t>Facts:</a:t>
            </a:r>
            <a:endParaRPr lang="en-US" sz="1800" dirty="0">
              <a:solidFill>
                <a:srgbClr val="034EA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</a:rPr>
              <a:t>A is true.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</a:rPr>
              <a:t>B is true.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</a:rPr>
              <a:t>E is true</a:t>
            </a:r>
            <a:r>
              <a:rPr lang="en-US" sz="1800" dirty="0">
                <a:solidFill>
                  <a:srgbClr val="C00000"/>
                </a:solidFill>
              </a:rPr>
              <a:t>.</a:t>
            </a:r>
          </a:p>
          <a:p>
            <a:r>
              <a:rPr lang="en-US" sz="1800" b="1" dirty="0">
                <a:solidFill>
                  <a:srgbClr val="C00000"/>
                </a:solidFill>
              </a:rPr>
              <a:t>Process of Forward Chaining:</a:t>
            </a:r>
            <a:endParaRPr lang="en-US" sz="1800" dirty="0">
              <a:solidFill>
                <a:srgbClr val="C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</a:rPr>
              <a:t>Start with the known facts: A, B, and E.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</a:rPr>
              <a:t>Apply Rule 1: Since A and B are true, we can infer C is true.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</a:rPr>
              <a:t>Apply Rule 2: Since C is now known to be true, we can infer D is true.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</a:rPr>
              <a:t>Apply Rule 3: Since B and E are both true, we can infer F is true.</a:t>
            </a:r>
          </a:p>
          <a:p>
            <a:r>
              <a:rPr lang="en-US" sz="1800" b="1" dirty="0">
                <a:solidFill>
                  <a:srgbClr val="C00000"/>
                </a:solidFill>
              </a:rPr>
              <a:t>Conclusion: </a:t>
            </a:r>
            <a:r>
              <a:rPr lang="en-US" sz="1800" dirty="0">
                <a:solidFill>
                  <a:srgbClr val="C00000"/>
                </a:solidFill>
              </a:rPr>
              <a:t>The facts that can be derived using forward chaining are C, D, and F.</a:t>
            </a:r>
          </a:p>
        </p:txBody>
      </p:sp>
    </p:spTree>
    <p:extLst>
      <p:ext uri="{BB962C8B-B14F-4D97-AF65-F5344CB8AC3E}">
        <p14:creationId xmlns:p14="http://schemas.microsoft.com/office/powerpoint/2010/main" val="296870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16B9-1208-F507-8DBE-0BCF9EB0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623D-4EEC-01A0-227B-8190A699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Backward Chaining (Backward Reasoning)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FE10B94-D72E-E684-B532-6D21EDD9B2BA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E0A7C-4862-F9E2-378A-989819A2E11D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4745C-C7BA-5439-9804-C9192FF288E1}"/>
              </a:ext>
            </a:extLst>
          </p:cNvPr>
          <p:cNvSpPr txBox="1"/>
          <p:nvPr/>
        </p:nvSpPr>
        <p:spPr>
          <a:xfrm>
            <a:off x="611560" y="987574"/>
            <a:ext cx="77768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Backward checking starts with a goal or query and works backward to find if there are facts or rules that can establish the goal as true.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tries to prove the goal by finding clauses whose head matches the goal and then recursively attempting to prove the body of those clauses.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terms of Horn clauses, backward checking means reasoning backward from a desired conclusion: </a:t>
            </a:r>
          </a:p>
          <a:p>
            <a:pPr marL="6286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If you want to prove that 𝑝p is true, you search for a clause of the form 𝑞1∧𝑞2∧…∧𝑞𝑛  ⟹  𝑝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try to establish the truth of all 𝑞𝑖q </a:t>
            </a:r>
            <a:r>
              <a:rPr lang="en-US" sz="1800" dirty="0" err="1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​ ‘s.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34EA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is often referred to as goal-driven reasoning since it starts from a specific goal and works backward to see if it can be supported by known facts or intermediate goals.</a:t>
            </a:r>
          </a:p>
        </p:txBody>
      </p:sp>
    </p:spTree>
    <p:extLst>
      <p:ext uri="{BB962C8B-B14F-4D97-AF65-F5344CB8AC3E}">
        <p14:creationId xmlns:p14="http://schemas.microsoft.com/office/powerpoint/2010/main" val="253237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7007D-5121-0C6A-A601-79850C4DC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142B-EFFB-DCD5-00F1-648895BB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Backward Chaining (Backward Reasoning)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3514FE4-8508-2C10-2EB2-1D00C32E874B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A4879-7351-3CB2-7EF3-AEAB6A4A5DF0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FF74D-90BA-CD19-6EA6-040B637C6AD6}"/>
              </a:ext>
            </a:extLst>
          </p:cNvPr>
          <p:cNvSpPr txBox="1"/>
          <p:nvPr/>
        </p:nvSpPr>
        <p:spPr>
          <a:xfrm>
            <a:off x="611560" y="1131590"/>
            <a:ext cx="676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Suppose your goal is to prove 𝑝.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You have the clause 𝑞1 ∧ 𝑞2  ⟹  𝑝.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Backward checking would require you to check if 𝑞1​  and 𝑞2​  are true. If they are, then 𝑝 is established as true.</a:t>
            </a:r>
            <a:endParaRPr lang="en-IN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191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3C968-19D4-2142-ECF5-8A9F10B9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DAB2A-849A-91E7-708E-7F991A0E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Backward Chaining (Backward Reasoning): Example 2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81FDAD1-3713-D109-012A-D58CC9277BB7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9A6CF-1BD8-ED8D-5B8B-362CB4215556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1FEBDB-6F10-3F70-C959-30EC95F665CC}"/>
              </a:ext>
            </a:extLst>
          </p:cNvPr>
          <p:cNvSpPr txBox="1"/>
          <p:nvPr/>
        </p:nvSpPr>
        <p:spPr>
          <a:xfrm>
            <a:off x="316181" y="483518"/>
            <a:ext cx="85529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Goal: 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Prove that DDD is true.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Rules (Horn Clauses):</a:t>
            </a:r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A∧B  ⟹  C 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C  ⟹  D 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B∧E  ⟹  F 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Facts: 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is true and B is true.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Process of Backward Chaining:</a:t>
            </a:r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Start with the goal: Prove D.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Find a rule that has D in its head: Rule 2 (C  ⟹  D).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prove D, we need to prove C(from Rule 2).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Find a rule that has C in its head: Rule 1 (A∧B  ⟹  C 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prove C, we need to prove A and B (from Rule 1).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Check facts: A and B are known to be true.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Conclusion: 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A and B are true, C is true (by Rule 1), and since C is true, D is true (by Rule 2). The goal D is successfully proven</a:t>
            </a: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69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ADA3-DEBC-9089-C3DA-5C22EC74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CF9C-FA8B-5E44-53D3-70D40550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73541"/>
            <a:ext cx="8552914" cy="481985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93478C"/>
                </a:solidFill>
                <a:latin typeface="Calibri Light" panose="020F0302020204030204" pitchFamily="34" charset="0"/>
                <a:ea typeface="Calibri Light" panose="020F0302020204030204" pitchFamily="34" charset="0"/>
              </a:rPr>
              <a:t>Backward Chaining (Backward Reasoning): Example 2</a:t>
            </a:r>
            <a:endParaRPr lang="en-US" sz="1400" dirty="0">
              <a:solidFill>
                <a:srgbClr val="034EA2"/>
              </a:solidFill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DB5ED5-A494-127D-E35A-A587D0F37333}"/>
              </a:ext>
            </a:extLst>
          </p:cNvPr>
          <p:cNvSpPr txBox="1">
            <a:spLocks/>
          </p:cNvSpPr>
          <p:nvPr/>
        </p:nvSpPr>
        <p:spPr>
          <a:xfrm>
            <a:off x="7270364" y="4696037"/>
            <a:ext cx="1856666" cy="301760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F7622-5FB4-49E0-ACC6-6DF962DBED52}"/>
              </a:ext>
            </a:extLst>
          </p:cNvPr>
          <p:cNvSpPr txBox="1"/>
          <p:nvPr/>
        </p:nvSpPr>
        <p:spPr>
          <a:xfrm>
            <a:off x="4716016" y="4932777"/>
            <a:ext cx="576064" cy="1592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BFCF6-4778-3BD3-B2D9-291DE1870046}"/>
              </a:ext>
            </a:extLst>
          </p:cNvPr>
          <p:cNvSpPr txBox="1"/>
          <p:nvPr/>
        </p:nvSpPr>
        <p:spPr>
          <a:xfrm>
            <a:off x="316181" y="483518"/>
            <a:ext cx="85529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Goal: 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Prove that DDD is true.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Rules (Horn Clauses):</a:t>
            </a:r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A∧B  ⟹  C 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C  ⟹  D 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B∧E  ⟹  F 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Facts: 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is true and B is true.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Process of Backward Chaining:</a:t>
            </a:r>
            <a:endParaRPr lang="en-US" sz="1800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Start with the goal: Prove D.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Find a rule that has D in its head: Rule 2 (C  ⟹  D).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prove D, we need to prove C(from Rule 2).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Find a rule that has C in its head: Rule 1 (A∧B  ⟹  C 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prove C, we need to prove A and B (from Rule 1).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Check facts: A and B are known to be true.</a:t>
            </a:r>
          </a:p>
          <a:p>
            <a:r>
              <a:rPr lang="en-US" sz="18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Conclusion: </a:t>
            </a:r>
            <a:r>
              <a:rPr lang="en-US" sz="1800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 A and B are true, C is true (by Rule 1), and since C is true, D is true (by Rule 2). The goal D is successfully proven</a:t>
            </a:r>
            <a:r>
              <a:rPr lang="en-US" sz="1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3595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F31117-E534-50E6-F68C-10CC388FAB17}"/>
              </a:ext>
            </a:extLst>
          </p:cNvPr>
          <p:cNvSpPr txBox="1">
            <a:spLocks/>
          </p:cNvSpPr>
          <p:nvPr/>
        </p:nvSpPr>
        <p:spPr>
          <a:xfrm>
            <a:off x="179512" y="195486"/>
            <a:ext cx="1944216" cy="432048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Autofit/>
          </a:bodyPr>
          <a:lstStyle>
            <a:lvl1pPr marL="0" indent="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Myriad Pro" pitchFamily="34" charset="0"/>
              <a:buChar char="–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Courier New" pitchFamily="49" charset="0"/>
              <a:buChar char="o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Clr>
                <a:schemeClr val="tx1">
                  <a:lumMod val="65000"/>
                  <a:lumOff val="35000"/>
                </a:schemeClr>
              </a:buClr>
              <a:buFont typeface="Arial" pitchFamily="34" charset="0"/>
              <a:buChar char="•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52493"/>
      </p:ext>
    </p:extLst>
  </p:cSld>
  <p:clrMapOvr>
    <a:masterClrMapping/>
  </p:clrMapOvr>
</p:sld>
</file>

<file path=ppt/theme/theme1.xml><?xml version="1.0" encoding="utf-8"?>
<a:theme xmlns:a="http://schemas.openxmlformats.org/drawingml/2006/main" name="Corp PPT Template 2017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Final TCS50_Corp PPT Template 2018_16x9_250618" id="{DB7AFD64-426C-4E36-9D07-50802EF75488}" vid="{907340DD-877F-4B54-96D9-C57E74D23287}"/>
    </a:ext>
  </a:extLst>
</a:theme>
</file>

<file path=ppt/theme/theme2.xml><?xml version="1.0" encoding="utf-8"?>
<a:theme xmlns:a="http://schemas.openxmlformats.org/drawingml/2006/main" name="2_Section Header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3.xml><?xml version="1.0" encoding="utf-8"?>
<a:theme xmlns:a="http://schemas.openxmlformats.org/drawingml/2006/main" name="2_Thank You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21D58A44272E40AE2FBCEDA96F816B" ma:contentTypeVersion="0" ma:contentTypeDescription="Create a new document." ma:contentTypeScope="" ma:versionID="01e8ac6b750e5908eeca9f0b57c104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6A22B0-BCBA-4EBF-85DA-1389332CD98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6C8B173-9972-4D14-A3AC-BB811AEEC8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8259F1-D46F-4C1F-B26F-8AF262256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57658</TotalTime>
  <Words>1144</Words>
  <Application>Microsoft Office PowerPoint</Application>
  <PresentationFormat>On-screen Show (16:9)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Myriad Pro</vt:lpstr>
      <vt:lpstr>Wingdings</vt:lpstr>
      <vt:lpstr>Corp PPT Template 2017_16x9</vt:lpstr>
      <vt:lpstr>2_Section Header</vt:lpstr>
      <vt:lpstr>2_Thank You</vt:lpstr>
      <vt:lpstr>PowerPoint Presentation</vt:lpstr>
      <vt:lpstr>Definite Clause</vt:lpstr>
      <vt:lpstr>Horne Clause</vt:lpstr>
      <vt:lpstr>Forward Checking (Forward Reasoning)</vt:lpstr>
      <vt:lpstr>Forward Checking (Forward Reasoning)</vt:lpstr>
      <vt:lpstr>Forward Checking (Forward Reasoning): Example 2</vt:lpstr>
      <vt:lpstr>Backward Chaining (Backward Reasoning)</vt:lpstr>
      <vt:lpstr>Backward Chaining (Backward Reasoning)</vt:lpstr>
      <vt:lpstr>Backward Chaining (Backward Reasoning): Example 2</vt:lpstr>
      <vt:lpstr>Backward Chaining (Backward Reasoning): Example 2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</dc:title>
  <dc:subject>Learn how TCS is positioned for longer term sustainable growth</dc:subject>
  <dc:creator>Tata Consultancy Services</dc:creator>
  <cp:lastModifiedBy>Tarachand Amgoth</cp:lastModifiedBy>
  <cp:revision>1358</cp:revision>
  <dcterms:created xsi:type="dcterms:W3CDTF">2015-09-29T05:13:53Z</dcterms:created>
  <dcterms:modified xsi:type="dcterms:W3CDTF">2024-11-09T01:59:09Z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0x0101009D21D58A44272E40AE2FBCEDA96F816B</vt:lpwstr>
  </property>
</Properties>
</file>